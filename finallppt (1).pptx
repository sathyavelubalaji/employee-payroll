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8" r:id="rId8"/>
    <p:sldId id="263" r:id="rId9"/>
    <p:sldId id="266" r:id="rId10"/>
    <p:sldId id="269" r:id="rId11"/>
    <p:sldId id="270" r:id="rId12"/>
    <p:sldId id="271" r:id="rId13"/>
    <p:sldId id="272" r:id="rId14"/>
    <p:sldId id="273" r:id="rId15"/>
    <p:sldId id="274" r:id="rId16"/>
    <p:sldId id="275" r:id="rId17"/>
    <p:sldId id="264" r:id="rId18"/>
    <p:sldId id="265" r:id="rId19"/>
    <p:sldId id="26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8751A0490" initials="1" lastIdx="2" clrIdx="0">
    <p:extLst>
      <p:ext uri="{19B8F6BF-5375-455C-9EA6-DF929625EA0E}">
        <p15:presenceInfo xmlns:p15="http://schemas.microsoft.com/office/powerpoint/2012/main" userId="18751A0490"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DD133B07-F5CE-4872-946E-7B9F4133B0C2}" type="datetimeFigureOut">
              <a:rPr lang="en-IN" smtClean="0"/>
              <a:t>08-03-2022</a:t>
            </a:fld>
            <a:endParaRPr lang="en-IN"/>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A7D1E3FD-3663-4E62-B887-74882A2B4E6D}" type="slidenum">
              <a:rPr lang="en-IN" smtClean="0"/>
              <a:t>‹#›</a:t>
            </a:fld>
            <a:endParaRPr lang="en-IN"/>
          </a:p>
        </p:txBody>
      </p:sp>
    </p:spTree>
    <p:extLst>
      <p:ext uri="{BB962C8B-B14F-4D97-AF65-F5344CB8AC3E}">
        <p14:creationId xmlns:p14="http://schemas.microsoft.com/office/powerpoint/2010/main" val="3331941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DD133B07-F5CE-4872-946E-7B9F4133B0C2}" type="datetimeFigureOut">
              <a:rPr lang="en-IN" smtClean="0"/>
              <a:t>08-03-2022</a:t>
            </a:fld>
            <a:endParaRPr lang="en-IN"/>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A7D1E3FD-3663-4E62-B887-74882A2B4E6D}" type="slidenum">
              <a:rPr lang="en-IN" smtClean="0"/>
              <a:t>‹#›</a:t>
            </a:fld>
            <a:endParaRPr lang="en-IN"/>
          </a:p>
        </p:txBody>
      </p:sp>
    </p:spTree>
    <p:extLst>
      <p:ext uri="{BB962C8B-B14F-4D97-AF65-F5344CB8AC3E}">
        <p14:creationId xmlns:p14="http://schemas.microsoft.com/office/powerpoint/2010/main" val="874899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DD133B07-F5CE-4872-946E-7B9F4133B0C2}" type="datetimeFigureOut">
              <a:rPr lang="en-IN" smtClean="0"/>
              <a:t>08-03-2022</a:t>
            </a:fld>
            <a:endParaRPr lang="en-IN"/>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A7D1E3FD-3663-4E62-B887-74882A2B4E6D}" type="slidenum">
              <a:rPr lang="en-IN" smtClean="0"/>
              <a:t>‹#›</a:t>
            </a:fld>
            <a:endParaRPr lang="en-IN"/>
          </a:p>
        </p:txBody>
      </p:sp>
    </p:spTree>
    <p:extLst>
      <p:ext uri="{BB962C8B-B14F-4D97-AF65-F5344CB8AC3E}">
        <p14:creationId xmlns:p14="http://schemas.microsoft.com/office/powerpoint/2010/main" val="296818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DD133B07-F5CE-4872-946E-7B9F4133B0C2}" type="datetimeFigureOut">
              <a:rPr lang="en-IN" smtClean="0"/>
              <a:t>08-03-2022</a:t>
            </a:fld>
            <a:endParaRPr lang="en-IN"/>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A7D1E3FD-3663-4E62-B887-74882A2B4E6D}" type="slidenum">
              <a:rPr lang="en-IN" smtClean="0"/>
              <a:t>‹#›</a:t>
            </a:fld>
            <a:endParaRPr lang="en-IN"/>
          </a:p>
        </p:txBody>
      </p:sp>
    </p:spTree>
    <p:extLst>
      <p:ext uri="{BB962C8B-B14F-4D97-AF65-F5344CB8AC3E}">
        <p14:creationId xmlns:p14="http://schemas.microsoft.com/office/powerpoint/2010/main" val="2787224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DD133B07-F5CE-4872-946E-7B9F4133B0C2}" type="datetimeFigureOut">
              <a:rPr lang="en-IN" smtClean="0"/>
              <a:t>08-03-2022</a:t>
            </a:fld>
            <a:endParaRPr lang="en-IN"/>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A7D1E3FD-3663-4E62-B887-74882A2B4E6D}" type="slidenum">
              <a:rPr lang="en-IN" smtClean="0"/>
              <a:t>‹#›</a:t>
            </a:fld>
            <a:endParaRPr lang="en-IN"/>
          </a:p>
        </p:txBody>
      </p:sp>
    </p:spTree>
    <p:extLst>
      <p:ext uri="{BB962C8B-B14F-4D97-AF65-F5344CB8AC3E}">
        <p14:creationId xmlns:p14="http://schemas.microsoft.com/office/powerpoint/2010/main" val="1592361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DD133B07-F5CE-4872-946E-7B9F4133B0C2}" type="datetimeFigureOut">
              <a:rPr lang="en-IN" smtClean="0"/>
              <a:t>08-03-2022</a:t>
            </a:fld>
            <a:endParaRPr lang="en-IN"/>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A7D1E3FD-3663-4E62-B887-74882A2B4E6D}" type="slidenum">
              <a:rPr lang="en-IN" smtClean="0"/>
              <a:t>‹#›</a:t>
            </a:fld>
            <a:endParaRPr lang="en-IN"/>
          </a:p>
        </p:txBody>
      </p:sp>
    </p:spTree>
    <p:extLst>
      <p:ext uri="{BB962C8B-B14F-4D97-AF65-F5344CB8AC3E}">
        <p14:creationId xmlns:p14="http://schemas.microsoft.com/office/powerpoint/2010/main" val="2409855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DD133B07-F5CE-4872-946E-7B9F4133B0C2}" type="datetimeFigureOut">
              <a:rPr lang="en-IN" smtClean="0"/>
              <a:t>08-03-2022</a:t>
            </a:fld>
            <a:endParaRPr lang="en-IN"/>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A7D1E3FD-3663-4E62-B887-74882A2B4E6D}" type="slidenum">
              <a:rPr lang="en-IN" smtClean="0"/>
              <a:t>‹#›</a:t>
            </a:fld>
            <a:endParaRPr lang="en-IN"/>
          </a:p>
        </p:txBody>
      </p:sp>
    </p:spTree>
    <p:extLst>
      <p:ext uri="{BB962C8B-B14F-4D97-AF65-F5344CB8AC3E}">
        <p14:creationId xmlns:p14="http://schemas.microsoft.com/office/powerpoint/2010/main" val="2689224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DD133B07-F5CE-4872-946E-7B9F4133B0C2}" type="datetimeFigureOut">
              <a:rPr lang="en-IN" smtClean="0"/>
              <a:t>08-03-2022</a:t>
            </a:fld>
            <a:endParaRPr lang="en-IN"/>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A7D1E3FD-3663-4E62-B887-74882A2B4E6D}" type="slidenum">
              <a:rPr lang="en-IN" smtClean="0"/>
              <a:t>‹#›</a:t>
            </a:fld>
            <a:endParaRPr lang="en-IN"/>
          </a:p>
        </p:txBody>
      </p:sp>
    </p:spTree>
    <p:extLst>
      <p:ext uri="{BB962C8B-B14F-4D97-AF65-F5344CB8AC3E}">
        <p14:creationId xmlns:p14="http://schemas.microsoft.com/office/powerpoint/2010/main" val="26658321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DD133B07-F5CE-4872-946E-7B9F4133B0C2}" type="datetimeFigureOut">
              <a:rPr lang="en-IN" smtClean="0"/>
              <a:t>08-03-2022</a:t>
            </a:fld>
            <a:endParaRPr lang="en-IN"/>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IN"/>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A7D1E3FD-3663-4E62-B887-74882A2B4E6D}" type="slidenum">
              <a:rPr lang="en-IN" smtClean="0"/>
              <a:t>‹#›</a:t>
            </a:fld>
            <a:endParaRPr lang="en-IN"/>
          </a:p>
        </p:txBody>
      </p:sp>
    </p:spTree>
    <p:extLst>
      <p:ext uri="{BB962C8B-B14F-4D97-AF65-F5344CB8AC3E}">
        <p14:creationId xmlns:p14="http://schemas.microsoft.com/office/powerpoint/2010/main" val="3052482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DD133B07-F5CE-4872-946E-7B9F4133B0C2}" type="datetimeFigureOut">
              <a:rPr lang="en-IN" smtClean="0"/>
              <a:t>08-03-2022</a:t>
            </a:fld>
            <a:endParaRPr lang="en-IN"/>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A7D1E3FD-3663-4E62-B887-74882A2B4E6D}" type="slidenum">
              <a:rPr lang="en-IN" smtClean="0"/>
              <a:t>‹#›</a:t>
            </a:fld>
            <a:endParaRPr lang="en-IN"/>
          </a:p>
        </p:txBody>
      </p:sp>
    </p:spTree>
    <p:extLst>
      <p:ext uri="{BB962C8B-B14F-4D97-AF65-F5344CB8AC3E}">
        <p14:creationId xmlns:p14="http://schemas.microsoft.com/office/powerpoint/2010/main" val="2509052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DD133B07-F5CE-4872-946E-7B9F4133B0C2}" type="datetimeFigureOut">
              <a:rPr lang="en-IN" smtClean="0"/>
              <a:t>08-03-2022</a:t>
            </a:fld>
            <a:endParaRPr lang="en-IN"/>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A7D1E3FD-3663-4E62-B887-74882A2B4E6D}" type="slidenum">
              <a:rPr lang="en-IN" smtClean="0"/>
              <a:t>‹#›</a:t>
            </a:fld>
            <a:endParaRPr lang="en-IN"/>
          </a:p>
        </p:txBody>
      </p:sp>
    </p:spTree>
    <p:extLst>
      <p:ext uri="{BB962C8B-B14F-4D97-AF65-F5344CB8AC3E}">
        <p14:creationId xmlns:p14="http://schemas.microsoft.com/office/powerpoint/2010/main" val="478755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DD133B07-F5CE-4872-946E-7B9F4133B0C2}" type="datetimeFigureOut">
              <a:rPr lang="en-IN" smtClean="0"/>
              <a:t>08-03-2022</a:t>
            </a:fld>
            <a:endParaRPr lang="en-IN"/>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A7D1E3FD-3663-4E62-B887-74882A2B4E6D}" type="slidenum">
              <a:rPr lang="en-IN" smtClean="0"/>
              <a:t>‹#›</a:t>
            </a:fld>
            <a:endParaRPr lang="en-IN"/>
          </a:p>
        </p:txBody>
      </p:sp>
    </p:spTree>
    <p:extLst>
      <p:ext uri="{BB962C8B-B14F-4D97-AF65-F5344CB8AC3E}">
        <p14:creationId xmlns:p14="http://schemas.microsoft.com/office/powerpoint/2010/main" val="3105906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133B07-F5CE-4872-946E-7B9F4133B0C2}" type="datetimeFigureOut">
              <a:rPr lang="en-IN" smtClean="0"/>
              <a:t>08-03-2022</a:t>
            </a:fld>
            <a:endParaRPr lang="en-IN"/>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D1E3FD-3663-4E62-B887-74882A2B4E6D}" type="slidenum">
              <a:rPr lang="en-IN" smtClean="0"/>
              <a:t>‹#›</a:t>
            </a:fld>
            <a:endParaRPr lang="en-IN"/>
          </a:p>
        </p:txBody>
      </p:sp>
    </p:spTree>
    <p:extLst>
      <p:ext uri="{BB962C8B-B14F-4D97-AF65-F5344CB8AC3E}">
        <p14:creationId xmlns:p14="http://schemas.microsoft.com/office/powerpoint/2010/main" val="37135237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javatpoint.com/" TargetMode="External"/><Relationship Id="rId7" Type="http://schemas.openxmlformats.org/officeDocument/2006/relationships/image" Target="../media/image3.png"/><Relationship Id="rId2" Type="http://schemas.openxmlformats.org/officeDocument/2006/relationships/hyperlink" Target="http://www.google.com/" TargetMode="External"/><Relationship Id="rId1" Type="http://schemas.openxmlformats.org/officeDocument/2006/relationships/slideLayout" Target="../slideLayouts/slideLayout2.xml"/><Relationship Id="rId6" Type="http://schemas.openxmlformats.org/officeDocument/2006/relationships/hyperlink" Target="http://www.spring.io/" TargetMode="External"/><Relationship Id="rId5" Type="http://schemas.openxmlformats.org/officeDocument/2006/relationships/hyperlink" Target="http://www.stackoverflow.com/" TargetMode="External"/><Relationship Id="rId4" Type="http://schemas.openxmlformats.org/officeDocument/2006/relationships/hyperlink" Target="http://www.youtube.com/"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D8A9-CD12-4F4C-9666-4C7E8222E9C1}"/>
              </a:ext>
            </a:extLst>
          </p:cNvPr>
          <p:cNvSpPr>
            <a:spLocks noGrp="1"/>
          </p:cNvSpPr>
          <p:nvPr>
            <p:ph type="ctrTitle"/>
          </p:nvPr>
        </p:nvSpPr>
        <p:spPr>
          <a:xfrm>
            <a:off x="102637" y="419879"/>
            <a:ext cx="11999167" cy="858416"/>
          </a:xfrm>
        </p:spPr>
        <p:txBody>
          <a:bodyPr/>
          <a:lstStyle/>
          <a:p>
            <a:pPr algn="ctr"/>
            <a:r>
              <a:rPr lang="en-IN" dirty="0">
                <a:latin typeface="Arial Black" panose="020B0A04020102020204" pitchFamily="34" charset="0"/>
              </a:rPr>
              <a:t>Employee Payroll Management</a:t>
            </a:r>
          </a:p>
        </p:txBody>
      </p:sp>
      <p:sp>
        <p:nvSpPr>
          <p:cNvPr id="3" name="Subtitle 2">
            <a:extLst>
              <a:ext uri="{FF2B5EF4-FFF2-40B4-BE49-F238E27FC236}">
                <a16:creationId xmlns:a16="http://schemas.microsoft.com/office/drawing/2014/main" id="{91655F13-41F7-4CF2-82EB-333F2A14D10E}"/>
              </a:ext>
            </a:extLst>
          </p:cNvPr>
          <p:cNvSpPr>
            <a:spLocks noGrp="1"/>
          </p:cNvSpPr>
          <p:nvPr>
            <p:ph type="subTitle" idx="1"/>
          </p:nvPr>
        </p:nvSpPr>
        <p:spPr>
          <a:xfrm>
            <a:off x="231710" y="1502229"/>
            <a:ext cx="11728579" cy="5215811"/>
          </a:xfrm>
        </p:spPr>
        <p:txBody>
          <a:bodyPr>
            <a:normAutofit fontScale="92500" lnSpcReduction="20000"/>
          </a:bodyPr>
          <a:lstStyle/>
          <a:p>
            <a:pPr algn="ctr"/>
            <a:r>
              <a:rPr lang="en-IN" b="1" dirty="0"/>
              <a:t>Group -2</a:t>
            </a:r>
          </a:p>
          <a:p>
            <a:pPr algn="ctr"/>
            <a:endParaRPr lang="en-IN" b="1" dirty="0"/>
          </a:p>
          <a:p>
            <a:pPr algn="ctr"/>
            <a:endParaRPr lang="en-IN" b="1" dirty="0"/>
          </a:p>
          <a:p>
            <a:pPr algn="ctr"/>
            <a:r>
              <a:rPr lang="en-IN" cap="none" dirty="0"/>
              <a:t>Akshay Uttam Mali                    2478468</a:t>
            </a:r>
          </a:p>
          <a:p>
            <a:pPr algn="ctr"/>
            <a:r>
              <a:rPr lang="en-IN" cap="none" dirty="0"/>
              <a:t>Aligeti Sravan kumar                 2478115</a:t>
            </a:r>
          </a:p>
          <a:p>
            <a:pPr algn="ctr"/>
            <a:r>
              <a:rPr lang="en-IN" cap="none" dirty="0"/>
              <a:t> Ashwini Ramesh Bagal             2478746</a:t>
            </a:r>
          </a:p>
          <a:p>
            <a:pPr algn="ctr"/>
            <a:r>
              <a:rPr lang="en-IN" cap="none" dirty="0"/>
              <a:t>Bharath Teja Paapana              2479443</a:t>
            </a:r>
          </a:p>
          <a:p>
            <a:pPr algn="ctr"/>
            <a:r>
              <a:rPr lang="en-IN" cap="none" dirty="0"/>
              <a:t>Jeevan TT                                    2478789</a:t>
            </a:r>
          </a:p>
          <a:p>
            <a:pPr algn="ctr"/>
            <a:r>
              <a:rPr lang="en-IN" cap="none" dirty="0"/>
              <a:t>Dalanna Gari Naveen Kumar   2478431</a:t>
            </a:r>
          </a:p>
          <a:p>
            <a:pPr algn="ctr"/>
            <a:r>
              <a:rPr lang="en-IN" cap="none" dirty="0"/>
              <a:t>M LOWKYA                                  2479372</a:t>
            </a:r>
          </a:p>
          <a:p>
            <a:pPr algn="ctr"/>
            <a:r>
              <a:rPr lang="en-IN" cap="none" dirty="0"/>
              <a:t>Ravi Kumar                                  2478842</a:t>
            </a:r>
          </a:p>
          <a:p>
            <a:pPr algn="ctr"/>
            <a:r>
              <a:rPr lang="en-IN" cap="none" dirty="0"/>
              <a:t>S Balaji                                          2479129</a:t>
            </a:r>
          </a:p>
          <a:p>
            <a:pPr algn="ctr"/>
            <a:r>
              <a:rPr lang="en-IN" cap="none" dirty="0"/>
              <a:t>Shreja Jagadish Sakhare            2478327</a:t>
            </a:r>
          </a:p>
          <a:p>
            <a:pPr algn="ctr"/>
            <a:endParaRPr lang="en-IN" b="1" dirty="0"/>
          </a:p>
          <a:p>
            <a:pPr algn="ctr"/>
            <a:endParaRPr lang="en-IN" b="1" dirty="0"/>
          </a:p>
        </p:txBody>
      </p:sp>
      <p:pic>
        <p:nvPicPr>
          <p:cNvPr id="5" name="Picture 4">
            <a:extLst>
              <a:ext uri="{FF2B5EF4-FFF2-40B4-BE49-F238E27FC236}">
                <a16:creationId xmlns:a16="http://schemas.microsoft.com/office/drawing/2014/main" id="{D729DD0D-58DC-49D3-AC2B-53005CBB7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62114" y="3429000"/>
            <a:ext cx="3129886" cy="3072032"/>
          </a:xfrm>
          <a:prstGeom prst="rect">
            <a:avLst/>
          </a:prstGeom>
        </p:spPr>
      </p:pic>
      <p:pic>
        <p:nvPicPr>
          <p:cNvPr id="9" name="Picture 8">
            <a:extLst>
              <a:ext uri="{FF2B5EF4-FFF2-40B4-BE49-F238E27FC236}">
                <a16:creationId xmlns:a16="http://schemas.microsoft.com/office/drawing/2014/main" id="{EEF06D4C-A53E-4CB3-A407-BB74A04FDB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360" y="3646009"/>
            <a:ext cx="4608047" cy="3072031"/>
          </a:xfrm>
          <a:prstGeom prst="rect">
            <a:avLst/>
          </a:prstGeom>
        </p:spPr>
      </p:pic>
    </p:spTree>
    <p:extLst>
      <p:ext uri="{BB962C8B-B14F-4D97-AF65-F5344CB8AC3E}">
        <p14:creationId xmlns:p14="http://schemas.microsoft.com/office/powerpoint/2010/main" val="404748533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FB70A-A798-4026-85FB-137CC4B496C5}"/>
              </a:ext>
            </a:extLst>
          </p:cNvPr>
          <p:cNvSpPr>
            <a:spLocks noGrp="1"/>
          </p:cNvSpPr>
          <p:nvPr>
            <p:ph type="title"/>
          </p:nvPr>
        </p:nvSpPr>
        <p:spPr/>
        <p:txBody>
          <a:bodyPr/>
          <a:lstStyle/>
          <a:p>
            <a:r>
              <a:rPr lang="en-IN" i="0" dirty="0">
                <a:latin typeface="Arial Black" panose="020B0A04020102020204" pitchFamily="34" charset="0"/>
              </a:rPr>
              <a:t>Bibliography</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7527E8CA-26E0-445A-B216-D58EA3260877}"/>
              </a:ext>
            </a:extLst>
          </p:cNvPr>
          <p:cNvSpPr>
            <a:spLocks noGrp="1"/>
          </p:cNvSpPr>
          <p:nvPr>
            <p:ph idx="1"/>
          </p:nvPr>
        </p:nvSpPr>
        <p:spPr/>
        <p:txBody>
          <a:bodyPr/>
          <a:lstStyle/>
          <a:p>
            <a:pPr>
              <a:buFont typeface="Wingdings" panose="05000000000000000000" pitchFamily="2" charset="2"/>
              <a:buChar char="v"/>
            </a:pPr>
            <a:r>
              <a:rPr lang="en-IN" dirty="0">
                <a:hlinkClick r:id="rId2"/>
              </a:rPr>
              <a:t>www.google.com</a:t>
            </a:r>
            <a:endParaRPr lang="en-IN" dirty="0"/>
          </a:p>
          <a:p>
            <a:pPr>
              <a:buFont typeface="Wingdings" panose="05000000000000000000" pitchFamily="2" charset="2"/>
              <a:buChar char="v"/>
            </a:pPr>
            <a:r>
              <a:rPr lang="en-IN" dirty="0">
                <a:hlinkClick r:id="rId3"/>
              </a:rPr>
              <a:t>www.javatpoint.com</a:t>
            </a:r>
            <a:endParaRPr lang="en-IN" dirty="0"/>
          </a:p>
          <a:p>
            <a:pPr>
              <a:buFont typeface="Wingdings" panose="05000000000000000000" pitchFamily="2" charset="2"/>
              <a:buChar char="v"/>
            </a:pPr>
            <a:r>
              <a:rPr lang="en-IN" dirty="0">
                <a:hlinkClick r:id="rId4"/>
              </a:rPr>
              <a:t>www.youtube.com</a:t>
            </a:r>
            <a:endParaRPr lang="en-IN" dirty="0"/>
          </a:p>
          <a:p>
            <a:pPr>
              <a:buFont typeface="Wingdings" panose="05000000000000000000" pitchFamily="2" charset="2"/>
              <a:buChar char="v"/>
            </a:pPr>
            <a:r>
              <a:rPr lang="en-IN" dirty="0">
                <a:hlinkClick r:id="rId5"/>
              </a:rPr>
              <a:t>www.stackoverflow.com</a:t>
            </a:r>
            <a:endParaRPr lang="en-IN" dirty="0"/>
          </a:p>
          <a:p>
            <a:pPr>
              <a:buFont typeface="Wingdings" panose="05000000000000000000" pitchFamily="2" charset="2"/>
              <a:buChar char="v"/>
            </a:pPr>
            <a:r>
              <a:rPr lang="en-IN" dirty="0">
                <a:hlinkClick r:id="rId6"/>
              </a:rPr>
              <a:t>WWW.spring.io</a:t>
            </a:r>
            <a:endParaRPr lang="en-IN" dirty="0"/>
          </a:p>
          <a:p>
            <a:pPr marL="0" indent="0">
              <a:buNone/>
            </a:pPr>
            <a:endParaRPr lang="en-IN" dirty="0"/>
          </a:p>
        </p:txBody>
      </p:sp>
      <p:pic>
        <p:nvPicPr>
          <p:cNvPr id="4" name="Picture 3">
            <a:extLst>
              <a:ext uri="{FF2B5EF4-FFF2-40B4-BE49-F238E27FC236}">
                <a16:creationId xmlns:a16="http://schemas.microsoft.com/office/drawing/2014/main" id="{9242C99C-8416-4F12-89E5-838615C869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37859" y="0"/>
            <a:ext cx="6654141" cy="5822373"/>
          </a:xfrm>
          <a:prstGeom prst="rect">
            <a:avLst/>
          </a:prstGeom>
        </p:spPr>
      </p:pic>
    </p:spTree>
    <p:extLst>
      <p:ext uri="{BB962C8B-B14F-4D97-AF65-F5344CB8AC3E}">
        <p14:creationId xmlns:p14="http://schemas.microsoft.com/office/powerpoint/2010/main" val="171605585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9DB9D-32A9-4737-A95B-1BF971CCDCAB}"/>
              </a:ext>
            </a:extLst>
          </p:cNvPr>
          <p:cNvSpPr>
            <a:spLocks noGrp="1"/>
          </p:cNvSpPr>
          <p:nvPr>
            <p:ph type="title"/>
          </p:nvPr>
        </p:nvSpPr>
        <p:spPr/>
        <p:txBody>
          <a:bodyPr/>
          <a:lstStyle/>
          <a:p>
            <a:r>
              <a:rPr lang="en-IN" dirty="0">
                <a:latin typeface="Arial Black" panose="020B0A04020102020204" pitchFamily="34" charset="0"/>
              </a:rPr>
              <a:t>Contents</a:t>
            </a:r>
          </a:p>
        </p:txBody>
      </p:sp>
      <p:sp>
        <p:nvSpPr>
          <p:cNvPr id="3" name="Content Placeholder 2">
            <a:extLst>
              <a:ext uri="{FF2B5EF4-FFF2-40B4-BE49-F238E27FC236}">
                <a16:creationId xmlns:a16="http://schemas.microsoft.com/office/drawing/2014/main" id="{39F0C1B5-D4BD-4489-857E-58BF69D05385}"/>
              </a:ext>
            </a:extLst>
          </p:cNvPr>
          <p:cNvSpPr>
            <a:spLocks noGrp="1"/>
          </p:cNvSpPr>
          <p:nvPr>
            <p:ph idx="1"/>
          </p:nvPr>
        </p:nvSpPr>
        <p:spPr/>
        <p:txBody>
          <a:bodyPr>
            <a:normAutofit/>
          </a:bodyPr>
          <a:lstStyle/>
          <a:p>
            <a:pPr marL="342900" indent="-342900">
              <a:buFont typeface="+mj-lt"/>
              <a:buAutoNum type="arabicPeriod"/>
            </a:pPr>
            <a:r>
              <a:rPr lang="en-IN" sz="1800" dirty="0"/>
              <a:t>Objective</a:t>
            </a:r>
          </a:p>
          <a:p>
            <a:pPr marL="342900" indent="-342900">
              <a:buFont typeface="+mj-lt"/>
              <a:buAutoNum type="arabicPeriod"/>
            </a:pPr>
            <a:r>
              <a:rPr lang="en-IN" sz="1800" dirty="0"/>
              <a:t>Tools &amp; Languages used</a:t>
            </a:r>
          </a:p>
          <a:p>
            <a:pPr marL="342900" indent="-342900">
              <a:buFont typeface="+mj-lt"/>
              <a:buAutoNum type="arabicPeriod"/>
            </a:pPr>
            <a:r>
              <a:rPr lang="en-IN" sz="1800" dirty="0"/>
              <a:t>System Requirements</a:t>
            </a:r>
          </a:p>
          <a:p>
            <a:pPr marL="342900" indent="-342900">
              <a:buFont typeface="+mj-lt"/>
              <a:buAutoNum type="arabicPeriod"/>
            </a:pPr>
            <a:r>
              <a:rPr lang="en-IN" sz="1800" dirty="0"/>
              <a:t>App Flow</a:t>
            </a:r>
          </a:p>
          <a:p>
            <a:pPr marL="342900" indent="-342900">
              <a:buFont typeface="+mj-lt"/>
              <a:buAutoNum type="arabicPeriod"/>
            </a:pPr>
            <a:r>
              <a:rPr lang="en-IN" sz="1800" dirty="0"/>
              <a:t>E-R Diagram</a:t>
            </a:r>
          </a:p>
          <a:p>
            <a:pPr marL="342900" indent="-342900">
              <a:buFont typeface="+mj-lt"/>
              <a:buAutoNum type="arabicPeriod"/>
            </a:pPr>
            <a:r>
              <a:rPr lang="en-US" sz="1800" i="0" dirty="0"/>
              <a:t>Features of Employee payroll management</a:t>
            </a:r>
          </a:p>
          <a:p>
            <a:pPr marL="342900" indent="-342900">
              <a:buFont typeface="+mj-lt"/>
              <a:buAutoNum type="arabicPeriod"/>
            </a:pPr>
            <a:r>
              <a:rPr lang="en-IN" sz="1800" dirty="0"/>
              <a:t>Future scope and improvements</a:t>
            </a:r>
          </a:p>
          <a:p>
            <a:pPr marL="342900" indent="-342900">
              <a:buFont typeface="+mj-lt"/>
              <a:buAutoNum type="arabicPeriod"/>
            </a:pPr>
            <a:r>
              <a:rPr lang="en-IN" sz="1800" i="0" dirty="0"/>
              <a:t>Conclusion</a:t>
            </a:r>
            <a:endParaRPr lang="en-IN" sz="1800" dirty="0"/>
          </a:p>
          <a:p>
            <a:pPr marL="342900" indent="-342900">
              <a:buFont typeface="+mj-lt"/>
              <a:buAutoNum type="arabicPeriod"/>
            </a:pPr>
            <a:endParaRPr lang="en-IN" sz="1800" dirty="0"/>
          </a:p>
          <a:p>
            <a:pPr marL="0" indent="0">
              <a:buNone/>
            </a:pPr>
            <a:endParaRPr lang="en-IN" sz="1800" dirty="0"/>
          </a:p>
          <a:p>
            <a:pPr marL="342900" indent="-342900">
              <a:buFont typeface="+mj-lt"/>
              <a:buAutoNum type="arabicPeriod"/>
            </a:pPr>
            <a:endParaRPr lang="en-IN" sz="1800" dirty="0"/>
          </a:p>
          <a:p>
            <a:pPr marL="342900" indent="-342900">
              <a:buFont typeface="+mj-lt"/>
              <a:buAutoNum type="arabicPeriod"/>
            </a:pPr>
            <a:endParaRPr lang="en-IN" sz="1800" dirty="0"/>
          </a:p>
        </p:txBody>
      </p:sp>
      <p:pic>
        <p:nvPicPr>
          <p:cNvPr id="5" name="Picture 4">
            <a:extLst>
              <a:ext uri="{FF2B5EF4-FFF2-40B4-BE49-F238E27FC236}">
                <a16:creationId xmlns:a16="http://schemas.microsoft.com/office/drawing/2014/main" id="{B8616F2C-89E7-4A4E-A943-AC185A6404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6190" y="685800"/>
            <a:ext cx="5935810" cy="6192982"/>
          </a:xfrm>
          <a:prstGeom prst="rect">
            <a:avLst/>
          </a:prstGeom>
        </p:spPr>
      </p:pic>
    </p:spTree>
    <p:extLst>
      <p:ext uri="{BB962C8B-B14F-4D97-AF65-F5344CB8AC3E}">
        <p14:creationId xmlns:p14="http://schemas.microsoft.com/office/powerpoint/2010/main" val="44620853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0D2A2-7283-4105-B1B9-90CD075B2E0E}"/>
              </a:ext>
            </a:extLst>
          </p:cNvPr>
          <p:cNvSpPr>
            <a:spLocks noGrp="1"/>
          </p:cNvSpPr>
          <p:nvPr>
            <p:ph type="title"/>
          </p:nvPr>
        </p:nvSpPr>
        <p:spPr/>
        <p:txBody>
          <a:bodyPr/>
          <a:lstStyle/>
          <a:p>
            <a:r>
              <a:rPr lang="en-IN" dirty="0">
                <a:latin typeface="Arial Black" panose="020B0A04020102020204" pitchFamily="34" charset="0"/>
              </a:rPr>
              <a:t>Objective</a:t>
            </a:r>
          </a:p>
        </p:txBody>
      </p:sp>
      <p:sp>
        <p:nvSpPr>
          <p:cNvPr id="3" name="Content Placeholder 2">
            <a:extLst>
              <a:ext uri="{FF2B5EF4-FFF2-40B4-BE49-F238E27FC236}">
                <a16:creationId xmlns:a16="http://schemas.microsoft.com/office/drawing/2014/main" id="{0ED52525-490D-43B8-9FD0-A948EB5A9487}"/>
              </a:ext>
            </a:extLst>
          </p:cNvPr>
          <p:cNvSpPr>
            <a:spLocks noGrp="1"/>
          </p:cNvSpPr>
          <p:nvPr>
            <p:ph idx="1"/>
          </p:nvPr>
        </p:nvSpPr>
        <p:spPr/>
        <p:txBody>
          <a:bodyPr>
            <a:normAutofit/>
          </a:bodyPr>
          <a:lstStyle/>
          <a:p>
            <a:pPr marL="0" indent="0">
              <a:buNone/>
            </a:pPr>
            <a:r>
              <a:rPr lang="en-IN" sz="1800" dirty="0"/>
              <a:t>The Primary objective of the design is to deliver the requirement as delivered by the feasibility report. There are some objective we kept in mind.</a:t>
            </a:r>
          </a:p>
          <a:p>
            <a:pPr>
              <a:buFont typeface="Wingdings" panose="05000000000000000000" pitchFamily="2" charset="2"/>
              <a:buChar char="ü"/>
            </a:pPr>
            <a:endParaRPr lang="en-IN" sz="1800" dirty="0"/>
          </a:p>
          <a:p>
            <a:pPr>
              <a:buFont typeface="Wingdings" panose="05000000000000000000" pitchFamily="2" charset="2"/>
              <a:buChar char="v"/>
            </a:pPr>
            <a:r>
              <a:rPr lang="en-IN" sz="1800" dirty="0"/>
              <a:t>Practically : The system is quite stable and can be operated by the Employees with average intelligence.</a:t>
            </a:r>
          </a:p>
          <a:p>
            <a:pPr>
              <a:buFont typeface="Wingdings" panose="05000000000000000000" pitchFamily="2" charset="2"/>
              <a:buChar char="v"/>
            </a:pPr>
            <a:r>
              <a:rPr lang="en-IN" sz="1800" dirty="0"/>
              <a:t>Efficiency : We tried to involve accuracy, timeliness and comprehensiveness of system output.</a:t>
            </a:r>
          </a:p>
        </p:txBody>
      </p:sp>
      <p:pic>
        <p:nvPicPr>
          <p:cNvPr id="5" name="Picture 4">
            <a:extLst>
              <a:ext uri="{FF2B5EF4-FFF2-40B4-BE49-F238E27FC236}">
                <a16:creationId xmlns:a16="http://schemas.microsoft.com/office/drawing/2014/main" id="{8F0E65ED-FFD3-434E-866B-158BBC75A5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6914" y="4218155"/>
            <a:ext cx="3383231" cy="2639845"/>
          </a:xfrm>
          <a:prstGeom prst="rect">
            <a:avLst/>
          </a:prstGeom>
        </p:spPr>
      </p:pic>
    </p:spTree>
    <p:extLst>
      <p:ext uri="{BB962C8B-B14F-4D97-AF65-F5344CB8AC3E}">
        <p14:creationId xmlns:p14="http://schemas.microsoft.com/office/powerpoint/2010/main" val="1225494768"/>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34A85-A1F1-42CC-AE7F-E11CBEA5BF6B}"/>
              </a:ext>
            </a:extLst>
          </p:cNvPr>
          <p:cNvSpPr>
            <a:spLocks noGrp="1"/>
          </p:cNvSpPr>
          <p:nvPr>
            <p:ph type="title"/>
          </p:nvPr>
        </p:nvSpPr>
        <p:spPr/>
        <p:txBody>
          <a:bodyPr/>
          <a:lstStyle/>
          <a:p>
            <a:r>
              <a:rPr lang="en-IN" i="0" dirty="0">
                <a:latin typeface="Arial Black" panose="020B0A04020102020204" pitchFamily="34" charset="0"/>
              </a:rPr>
              <a:t>Tools &amp; Languages used</a:t>
            </a:r>
          </a:p>
        </p:txBody>
      </p:sp>
      <p:sp>
        <p:nvSpPr>
          <p:cNvPr id="4" name="Text Placeholder 3">
            <a:extLst>
              <a:ext uri="{FF2B5EF4-FFF2-40B4-BE49-F238E27FC236}">
                <a16:creationId xmlns:a16="http://schemas.microsoft.com/office/drawing/2014/main" id="{D7CF5AFC-E5B6-47D6-8B3B-807405378BC8}"/>
              </a:ext>
            </a:extLst>
          </p:cNvPr>
          <p:cNvSpPr>
            <a:spLocks noGrp="1"/>
          </p:cNvSpPr>
          <p:nvPr>
            <p:ph type="body" idx="1"/>
          </p:nvPr>
        </p:nvSpPr>
        <p:spPr/>
        <p:txBody>
          <a:bodyPr/>
          <a:lstStyle/>
          <a:p>
            <a:r>
              <a:rPr lang="en-IN" dirty="0"/>
              <a:t>Front End</a:t>
            </a:r>
          </a:p>
        </p:txBody>
      </p:sp>
      <p:sp>
        <p:nvSpPr>
          <p:cNvPr id="5" name="Content Placeholder 4">
            <a:extLst>
              <a:ext uri="{FF2B5EF4-FFF2-40B4-BE49-F238E27FC236}">
                <a16:creationId xmlns:a16="http://schemas.microsoft.com/office/drawing/2014/main" id="{2E7838C4-A761-4A2C-B5DE-517D01F89416}"/>
              </a:ext>
            </a:extLst>
          </p:cNvPr>
          <p:cNvSpPr>
            <a:spLocks noGrp="1"/>
          </p:cNvSpPr>
          <p:nvPr>
            <p:ph sz="half" idx="2"/>
          </p:nvPr>
        </p:nvSpPr>
        <p:spPr>
          <a:xfrm>
            <a:off x="839788" y="2934054"/>
            <a:ext cx="4937760" cy="3063240"/>
          </a:xfrm>
        </p:spPr>
        <p:txBody>
          <a:bodyPr>
            <a:normAutofit/>
          </a:bodyPr>
          <a:lstStyle/>
          <a:p>
            <a:r>
              <a:rPr lang="en-IN" sz="1800" dirty="0"/>
              <a:t>Angular</a:t>
            </a:r>
          </a:p>
          <a:p>
            <a:r>
              <a:rPr lang="en-IN" sz="1800" dirty="0"/>
              <a:t>HTML</a:t>
            </a:r>
          </a:p>
          <a:p>
            <a:r>
              <a:rPr lang="en-IN" sz="1800" dirty="0"/>
              <a:t>CSS</a:t>
            </a:r>
          </a:p>
          <a:p>
            <a:r>
              <a:rPr lang="en-IN" sz="1800" dirty="0"/>
              <a:t>BOOTSTRAP</a:t>
            </a:r>
          </a:p>
          <a:p>
            <a:r>
              <a:rPr lang="en-IN" sz="1800" dirty="0"/>
              <a:t>Visual Studio</a:t>
            </a:r>
          </a:p>
        </p:txBody>
      </p:sp>
      <p:sp>
        <p:nvSpPr>
          <p:cNvPr id="6" name="Text Placeholder 5">
            <a:extLst>
              <a:ext uri="{FF2B5EF4-FFF2-40B4-BE49-F238E27FC236}">
                <a16:creationId xmlns:a16="http://schemas.microsoft.com/office/drawing/2014/main" id="{482F797D-D496-47A5-85CE-2D1F82BB1BCE}"/>
              </a:ext>
            </a:extLst>
          </p:cNvPr>
          <p:cNvSpPr>
            <a:spLocks noGrp="1"/>
          </p:cNvSpPr>
          <p:nvPr>
            <p:ph type="body" sz="quarter" idx="3"/>
          </p:nvPr>
        </p:nvSpPr>
        <p:spPr/>
        <p:txBody>
          <a:bodyPr/>
          <a:lstStyle/>
          <a:p>
            <a:r>
              <a:rPr lang="en-IN" dirty="0"/>
              <a:t>Back End</a:t>
            </a:r>
          </a:p>
        </p:txBody>
      </p:sp>
      <p:sp>
        <p:nvSpPr>
          <p:cNvPr id="7" name="Content Placeholder 6">
            <a:extLst>
              <a:ext uri="{FF2B5EF4-FFF2-40B4-BE49-F238E27FC236}">
                <a16:creationId xmlns:a16="http://schemas.microsoft.com/office/drawing/2014/main" id="{610A4A1B-B005-4939-B0E6-F2CD5458215D}"/>
              </a:ext>
            </a:extLst>
          </p:cNvPr>
          <p:cNvSpPr>
            <a:spLocks noGrp="1"/>
          </p:cNvSpPr>
          <p:nvPr>
            <p:ph sz="quarter" idx="4"/>
          </p:nvPr>
        </p:nvSpPr>
        <p:spPr/>
        <p:txBody>
          <a:bodyPr>
            <a:normAutofit/>
          </a:bodyPr>
          <a:lstStyle/>
          <a:p>
            <a:r>
              <a:rPr lang="en-IN" sz="1800" dirty="0"/>
              <a:t>Spring Tool Suite</a:t>
            </a:r>
          </a:p>
          <a:p>
            <a:r>
              <a:rPr lang="en-IN" sz="1800" dirty="0"/>
              <a:t>MySQL</a:t>
            </a:r>
          </a:p>
          <a:p>
            <a:r>
              <a:rPr lang="en-IN" sz="1800" dirty="0"/>
              <a:t>Hibernate</a:t>
            </a:r>
          </a:p>
          <a:p>
            <a:r>
              <a:rPr lang="en-IN" sz="1800" dirty="0"/>
              <a:t>Postman</a:t>
            </a:r>
          </a:p>
          <a:p>
            <a:endParaRPr lang="en-IN" sz="1800" dirty="0"/>
          </a:p>
        </p:txBody>
      </p:sp>
      <p:pic>
        <p:nvPicPr>
          <p:cNvPr id="8" name="Picture 7">
            <a:extLst>
              <a:ext uri="{FF2B5EF4-FFF2-40B4-BE49-F238E27FC236}">
                <a16:creationId xmlns:a16="http://schemas.microsoft.com/office/drawing/2014/main" id="{2351FE64-3D7C-4273-B65B-ECC6C703E0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071" y="5334513"/>
            <a:ext cx="1250322" cy="1325563"/>
          </a:xfrm>
          <a:prstGeom prst="rect">
            <a:avLst/>
          </a:prstGeom>
        </p:spPr>
      </p:pic>
      <p:pic>
        <p:nvPicPr>
          <p:cNvPr id="10" name="Picture 9">
            <a:extLst>
              <a:ext uri="{FF2B5EF4-FFF2-40B4-BE49-F238E27FC236}">
                <a16:creationId xmlns:a16="http://schemas.microsoft.com/office/drawing/2014/main" id="{75C45379-EB3C-43D6-BFEC-43C107500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0110" y="5334513"/>
            <a:ext cx="3349339" cy="1519456"/>
          </a:xfrm>
          <a:prstGeom prst="rect">
            <a:avLst/>
          </a:prstGeom>
        </p:spPr>
      </p:pic>
      <p:pic>
        <p:nvPicPr>
          <p:cNvPr id="12" name="Picture 11" descr="vscode&#10;">
            <a:extLst>
              <a:ext uri="{FF2B5EF4-FFF2-40B4-BE49-F238E27FC236}">
                <a16:creationId xmlns:a16="http://schemas.microsoft.com/office/drawing/2014/main" id="{063D5912-7901-4F12-89C5-E533864EB7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1218" y="5516738"/>
            <a:ext cx="1152299" cy="1155005"/>
          </a:xfrm>
          <a:prstGeom prst="rect">
            <a:avLst/>
          </a:prstGeom>
        </p:spPr>
      </p:pic>
      <p:pic>
        <p:nvPicPr>
          <p:cNvPr id="14" name="Picture 13">
            <a:extLst>
              <a:ext uri="{FF2B5EF4-FFF2-40B4-BE49-F238E27FC236}">
                <a16:creationId xmlns:a16="http://schemas.microsoft.com/office/drawing/2014/main" id="{3AA5FD93-78C7-49CC-A624-2724FB9CAD2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4334" y="2138072"/>
            <a:ext cx="1988346" cy="1325564"/>
          </a:xfrm>
          <a:prstGeom prst="rect">
            <a:avLst/>
          </a:prstGeom>
        </p:spPr>
      </p:pic>
      <p:pic>
        <p:nvPicPr>
          <p:cNvPr id="16" name="Picture 15">
            <a:extLst>
              <a:ext uri="{FF2B5EF4-FFF2-40B4-BE49-F238E27FC236}">
                <a16:creationId xmlns:a16="http://schemas.microsoft.com/office/drawing/2014/main" id="{4887AFD1-F4AC-4666-87DE-FECE8B6EF8E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4334" y="904304"/>
            <a:ext cx="2494712" cy="950976"/>
          </a:xfrm>
          <a:prstGeom prst="rect">
            <a:avLst/>
          </a:prstGeom>
        </p:spPr>
      </p:pic>
      <p:pic>
        <p:nvPicPr>
          <p:cNvPr id="18" name="Picture 17">
            <a:extLst>
              <a:ext uri="{FF2B5EF4-FFF2-40B4-BE49-F238E27FC236}">
                <a16:creationId xmlns:a16="http://schemas.microsoft.com/office/drawing/2014/main" id="{D81F4563-96DE-46F9-BBD0-E111F91D6D5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33330" y="4036041"/>
            <a:ext cx="3851388" cy="654004"/>
          </a:xfrm>
          <a:prstGeom prst="rect">
            <a:avLst/>
          </a:prstGeom>
        </p:spPr>
      </p:pic>
      <p:pic>
        <p:nvPicPr>
          <p:cNvPr id="1026" name="Picture 2">
            <a:extLst>
              <a:ext uri="{FF2B5EF4-FFF2-40B4-BE49-F238E27FC236}">
                <a16:creationId xmlns:a16="http://schemas.microsoft.com/office/drawing/2014/main" id="{D3E3B82A-3ED0-450B-9943-90EB27AC77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55662" y="4967668"/>
            <a:ext cx="1972056" cy="1972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0431706"/>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33CAD-79EE-4816-9ACD-80551EA25C64}"/>
              </a:ext>
            </a:extLst>
          </p:cNvPr>
          <p:cNvSpPr>
            <a:spLocks noGrp="1"/>
          </p:cNvSpPr>
          <p:nvPr>
            <p:ph type="title"/>
          </p:nvPr>
        </p:nvSpPr>
        <p:spPr/>
        <p:txBody>
          <a:bodyPr/>
          <a:lstStyle/>
          <a:p>
            <a:r>
              <a:rPr lang="en-IN" i="0" dirty="0">
                <a:latin typeface="Arial Black" panose="020B0A04020102020204" pitchFamily="34" charset="0"/>
              </a:rPr>
              <a:t>System Requirements</a:t>
            </a:r>
          </a:p>
        </p:txBody>
      </p:sp>
      <p:sp>
        <p:nvSpPr>
          <p:cNvPr id="3" name="Content Placeholder 2">
            <a:extLst>
              <a:ext uri="{FF2B5EF4-FFF2-40B4-BE49-F238E27FC236}">
                <a16:creationId xmlns:a16="http://schemas.microsoft.com/office/drawing/2014/main" id="{2F0E87EA-14E4-4DBB-BFD5-46FC541244A4}"/>
              </a:ext>
            </a:extLst>
          </p:cNvPr>
          <p:cNvSpPr>
            <a:spLocks noGrp="1"/>
          </p:cNvSpPr>
          <p:nvPr>
            <p:ph idx="1"/>
          </p:nvPr>
        </p:nvSpPr>
        <p:spPr/>
        <p:txBody>
          <a:bodyPr>
            <a:normAutofit/>
          </a:bodyPr>
          <a:lstStyle/>
          <a:p>
            <a:pPr marL="0" indent="0" algn="l">
              <a:lnSpc>
                <a:spcPct val="150000"/>
              </a:lnSpc>
              <a:buNone/>
            </a:pPr>
            <a:r>
              <a:rPr lang="en-GB" sz="1800" dirty="0">
                <a:solidFill>
                  <a:schemeClr val="tx1"/>
                </a:solidFill>
                <a:ea typeface="Arial Unicode MS" panose="020B0604020202020204" pitchFamily="34" charset="-128"/>
                <a:cs typeface="Arial Unicode MS" panose="020B0604020202020204" pitchFamily="34" charset="-128"/>
              </a:rPr>
              <a:t>The Basic System Requirements for Running this project are listed below:</a:t>
            </a:r>
          </a:p>
          <a:p>
            <a:pPr marL="0" indent="0" algn="l">
              <a:lnSpc>
                <a:spcPct val="150000"/>
              </a:lnSpc>
              <a:buNone/>
            </a:pPr>
            <a:endParaRPr lang="en-GB" sz="1800" dirty="0">
              <a:solidFill>
                <a:schemeClr val="tx1"/>
              </a:solidFill>
              <a:ea typeface="Arial Unicode MS" panose="020B0604020202020204" pitchFamily="34" charset="-128"/>
              <a:cs typeface="Arial Unicode MS" panose="020B0604020202020204" pitchFamily="34" charset="-128"/>
            </a:endParaRPr>
          </a:p>
          <a:p>
            <a:pPr marL="285750" indent="-285750" algn="l">
              <a:lnSpc>
                <a:spcPct val="150000"/>
              </a:lnSpc>
              <a:buFont typeface="Wingdings" panose="05000000000000000000" pitchFamily="2" charset="2"/>
              <a:buChar char="q"/>
            </a:pPr>
            <a:r>
              <a:rPr lang="en-GB" sz="1800" dirty="0">
                <a:solidFill>
                  <a:schemeClr val="tx1"/>
                </a:solidFill>
                <a:ea typeface="Arial Unicode MS" panose="020B0604020202020204" pitchFamily="34" charset="-128"/>
                <a:cs typeface="Arial Unicode MS" panose="020B0604020202020204" pitchFamily="34" charset="-128"/>
              </a:rPr>
              <a:t>Angular, STS, Postman and MySQL to be installed to the system</a:t>
            </a:r>
          </a:p>
          <a:p>
            <a:pPr marL="285750" indent="-285750" algn="l">
              <a:lnSpc>
                <a:spcPct val="150000"/>
              </a:lnSpc>
              <a:buFont typeface="Wingdings" panose="05000000000000000000" pitchFamily="2" charset="2"/>
              <a:buChar char="q"/>
            </a:pPr>
            <a:r>
              <a:rPr lang="en-GB" sz="1800" dirty="0">
                <a:solidFill>
                  <a:schemeClr val="tx1"/>
                </a:solidFill>
                <a:ea typeface="Arial Unicode MS" panose="020B0604020202020204" pitchFamily="34" charset="-128"/>
                <a:cs typeface="Arial Unicode MS" panose="020B0604020202020204" pitchFamily="34" charset="-128"/>
              </a:rPr>
              <a:t>572 MB Random Access Memory</a:t>
            </a:r>
          </a:p>
          <a:p>
            <a:pPr marL="285750" indent="-285750" algn="l">
              <a:lnSpc>
                <a:spcPct val="150000"/>
              </a:lnSpc>
              <a:buFont typeface="Wingdings" panose="05000000000000000000" pitchFamily="2" charset="2"/>
              <a:buChar char="q"/>
            </a:pPr>
            <a:r>
              <a:rPr lang="en-GB" sz="1800" dirty="0">
                <a:solidFill>
                  <a:schemeClr val="tx1"/>
                </a:solidFill>
                <a:ea typeface="Arial Unicode MS" panose="020B0604020202020204" pitchFamily="34" charset="-128"/>
                <a:cs typeface="Arial Unicode MS" panose="020B0604020202020204" pitchFamily="34" charset="-128"/>
              </a:rPr>
              <a:t>200 MB of Free Space on Hard Disk</a:t>
            </a:r>
          </a:p>
          <a:p>
            <a:pPr marL="285750" indent="-285750" algn="l">
              <a:lnSpc>
                <a:spcPct val="150000"/>
              </a:lnSpc>
              <a:buFont typeface="Wingdings" panose="05000000000000000000" pitchFamily="2" charset="2"/>
              <a:buChar char="q"/>
            </a:pPr>
            <a:r>
              <a:rPr lang="en-GB" sz="1800" dirty="0">
                <a:solidFill>
                  <a:schemeClr val="tx1"/>
                </a:solidFill>
                <a:ea typeface="Arial Unicode MS" panose="020B0604020202020204" pitchFamily="34" charset="-128"/>
                <a:cs typeface="Arial Unicode MS" panose="020B0604020202020204" pitchFamily="34" charset="-128"/>
              </a:rPr>
              <a:t>Microsoft Windows XP or Linux or Equivalent OS</a:t>
            </a:r>
          </a:p>
          <a:p>
            <a:pPr marL="285750" indent="-285750" algn="l">
              <a:lnSpc>
                <a:spcPct val="150000"/>
              </a:lnSpc>
              <a:buFont typeface="Wingdings" panose="05000000000000000000" pitchFamily="2" charset="2"/>
              <a:buChar char="q"/>
            </a:pPr>
            <a:r>
              <a:rPr lang="en-GB" sz="1800" dirty="0">
                <a:solidFill>
                  <a:schemeClr val="tx1"/>
                </a:solidFill>
                <a:ea typeface="Arial Unicode MS" panose="020B0604020202020204" pitchFamily="34" charset="-128"/>
                <a:cs typeface="Arial Unicode MS" panose="020B0604020202020204" pitchFamily="34" charset="-128"/>
              </a:rPr>
              <a:t>Web Browser</a:t>
            </a:r>
            <a:endParaRPr lang="en-IN" sz="1800" dirty="0"/>
          </a:p>
        </p:txBody>
      </p:sp>
    </p:spTree>
    <p:extLst>
      <p:ext uri="{BB962C8B-B14F-4D97-AF65-F5344CB8AC3E}">
        <p14:creationId xmlns:p14="http://schemas.microsoft.com/office/powerpoint/2010/main" val="174916858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D078A-4BC1-4AC1-ABE0-954D7C7E3E96}"/>
              </a:ext>
            </a:extLst>
          </p:cNvPr>
          <p:cNvSpPr>
            <a:spLocks noGrp="1"/>
          </p:cNvSpPr>
          <p:nvPr>
            <p:ph type="title"/>
          </p:nvPr>
        </p:nvSpPr>
        <p:spPr>
          <a:xfrm>
            <a:off x="189781" y="0"/>
            <a:ext cx="11164019" cy="802257"/>
          </a:xfrm>
        </p:spPr>
        <p:txBody>
          <a:bodyPr/>
          <a:lstStyle/>
          <a:p>
            <a:r>
              <a:rPr lang="en-IN" i="0" dirty="0">
                <a:latin typeface="Arial Black" panose="020B0A04020102020204" pitchFamily="34" charset="0"/>
              </a:rPr>
              <a:t>App Flow</a:t>
            </a:r>
            <a:endParaRPr lang="en-IN" dirty="0"/>
          </a:p>
        </p:txBody>
      </p:sp>
      <p:pic>
        <p:nvPicPr>
          <p:cNvPr id="50" name="Content Placeholder 49">
            <a:extLst>
              <a:ext uri="{FF2B5EF4-FFF2-40B4-BE49-F238E27FC236}">
                <a16:creationId xmlns:a16="http://schemas.microsoft.com/office/drawing/2014/main" id="{47F8622B-A7EA-428E-9AE1-75D80C30CFC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1944" y="900905"/>
            <a:ext cx="7063272" cy="5854458"/>
          </a:xfrm>
        </p:spPr>
      </p:pic>
    </p:spTree>
    <p:extLst>
      <p:ext uri="{BB962C8B-B14F-4D97-AF65-F5344CB8AC3E}">
        <p14:creationId xmlns:p14="http://schemas.microsoft.com/office/powerpoint/2010/main" val="104920111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B0839-18FA-4AE4-96CB-2CC6F7CE343E}"/>
              </a:ext>
            </a:extLst>
          </p:cNvPr>
          <p:cNvSpPr>
            <a:spLocks noGrp="1"/>
          </p:cNvSpPr>
          <p:nvPr>
            <p:ph type="title"/>
          </p:nvPr>
        </p:nvSpPr>
        <p:spPr>
          <a:xfrm>
            <a:off x="138223" y="116959"/>
            <a:ext cx="11215577" cy="829339"/>
          </a:xfrm>
        </p:spPr>
        <p:txBody>
          <a:bodyPr/>
          <a:lstStyle/>
          <a:p>
            <a:r>
              <a:rPr lang="en-IN" i="0" dirty="0">
                <a:latin typeface="Arial Black" panose="020B0A04020102020204" pitchFamily="34" charset="0"/>
              </a:rPr>
              <a:t>E-R Diagram</a:t>
            </a:r>
          </a:p>
        </p:txBody>
      </p:sp>
      <p:pic>
        <p:nvPicPr>
          <p:cNvPr id="167" name="Picture 166">
            <a:extLst>
              <a:ext uri="{FF2B5EF4-FFF2-40B4-BE49-F238E27FC236}">
                <a16:creationId xmlns:a16="http://schemas.microsoft.com/office/drawing/2014/main" id="{274AE621-9A26-4601-A31F-7673D55332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8105" y="0"/>
            <a:ext cx="5364260" cy="6858000"/>
          </a:xfrm>
          <a:prstGeom prst="rect">
            <a:avLst/>
          </a:prstGeom>
        </p:spPr>
      </p:pic>
    </p:spTree>
    <p:extLst>
      <p:ext uri="{BB962C8B-B14F-4D97-AF65-F5344CB8AC3E}">
        <p14:creationId xmlns:p14="http://schemas.microsoft.com/office/powerpoint/2010/main" val="12089098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CA4A-FA56-4343-AF5A-894566F59879}"/>
              </a:ext>
            </a:extLst>
          </p:cNvPr>
          <p:cNvSpPr>
            <a:spLocks noGrp="1"/>
          </p:cNvSpPr>
          <p:nvPr>
            <p:ph type="title"/>
          </p:nvPr>
        </p:nvSpPr>
        <p:spPr/>
        <p:txBody>
          <a:bodyPr/>
          <a:lstStyle/>
          <a:p>
            <a:pPr algn="ctr"/>
            <a:r>
              <a:rPr lang="en-US" i="0" dirty="0"/>
              <a:t>Features of Employee payroll management</a:t>
            </a:r>
            <a:endParaRPr lang="en-IN" i="0" dirty="0"/>
          </a:p>
        </p:txBody>
      </p:sp>
      <p:sp>
        <p:nvSpPr>
          <p:cNvPr id="3" name="Content Placeholder 2">
            <a:extLst>
              <a:ext uri="{FF2B5EF4-FFF2-40B4-BE49-F238E27FC236}">
                <a16:creationId xmlns:a16="http://schemas.microsoft.com/office/drawing/2014/main" id="{91B970A7-BB2B-4558-9F20-60D7DD312D17}"/>
              </a:ext>
            </a:extLst>
          </p:cNvPr>
          <p:cNvSpPr>
            <a:spLocks noGrp="1"/>
          </p:cNvSpPr>
          <p:nvPr>
            <p:ph idx="1"/>
          </p:nvPr>
        </p:nvSpPr>
        <p:spPr/>
        <p:txBody>
          <a:bodyPr>
            <a:normAutofit/>
          </a:bodyPr>
          <a:lstStyle/>
          <a:p>
            <a:pPr>
              <a:buFont typeface="Wingdings" panose="05000000000000000000" pitchFamily="2" charset="2"/>
              <a:buChar char="Ø"/>
            </a:pPr>
            <a:r>
              <a:rPr lang="en-US" sz="1800" dirty="0"/>
              <a:t> Easy to use. </a:t>
            </a:r>
          </a:p>
          <a:p>
            <a:pPr>
              <a:buFont typeface="Wingdings" panose="05000000000000000000" pitchFamily="2" charset="2"/>
              <a:buChar char="Ø"/>
            </a:pPr>
            <a:r>
              <a:rPr lang="en-US" sz="1800" dirty="0"/>
              <a:t> It is completely secure.</a:t>
            </a:r>
          </a:p>
          <a:p>
            <a:pPr>
              <a:buFont typeface="Wingdings" panose="05000000000000000000" pitchFamily="2" charset="2"/>
              <a:buChar char="Ø"/>
            </a:pPr>
            <a:r>
              <a:rPr lang="en-US" sz="1800" dirty="0"/>
              <a:t> It is completely controlled by admin. </a:t>
            </a:r>
          </a:p>
          <a:p>
            <a:pPr>
              <a:buFont typeface="Wingdings" panose="05000000000000000000" pitchFamily="2" charset="2"/>
              <a:buChar char="Ø"/>
            </a:pPr>
            <a:r>
              <a:rPr lang="en-US" sz="1800" dirty="0"/>
              <a:t> This system is easily compatible with most of the web browsers. </a:t>
            </a:r>
          </a:p>
          <a:p>
            <a:pPr>
              <a:buFont typeface="Wingdings" panose="05000000000000000000" pitchFamily="2" charset="2"/>
              <a:buChar char="Ø"/>
            </a:pPr>
            <a:r>
              <a:rPr lang="en-US" sz="1800" dirty="0"/>
              <a:t> It is very interactive and saves time. </a:t>
            </a:r>
          </a:p>
          <a:p>
            <a:pPr>
              <a:buFont typeface="Wingdings" panose="05000000000000000000" pitchFamily="2" charset="2"/>
              <a:buChar char="Ø"/>
            </a:pPr>
            <a:r>
              <a:rPr lang="en-US" sz="1800" dirty="0"/>
              <a:t> Reduces paper works. </a:t>
            </a:r>
          </a:p>
          <a:p>
            <a:pPr>
              <a:buFont typeface="Wingdings" panose="05000000000000000000" pitchFamily="2" charset="2"/>
              <a:buChar char="Ø"/>
            </a:pPr>
            <a:r>
              <a:rPr lang="en-US" sz="1800" dirty="0"/>
              <a:t> Calculations are automated so it is highly accurate. </a:t>
            </a:r>
          </a:p>
          <a:p>
            <a:pPr>
              <a:buFont typeface="Wingdings" panose="05000000000000000000" pitchFamily="2" charset="2"/>
              <a:buChar char="Ø"/>
            </a:pPr>
            <a:r>
              <a:rPr lang="en-US" sz="1800" dirty="0"/>
              <a:t> Admin can view all the records whenever necessary with ease.</a:t>
            </a:r>
            <a:endParaRPr lang="en-IN" sz="1800" dirty="0"/>
          </a:p>
        </p:txBody>
      </p:sp>
      <p:pic>
        <p:nvPicPr>
          <p:cNvPr id="5" name="Picture 4">
            <a:extLst>
              <a:ext uri="{FF2B5EF4-FFF2-40B4-BE49-F238E27FC236}">
                <a16:creationId xmlns:a16="http://schemas.microsoft.com/office/drawing/2014/main" id="{5E054515-6BAC-4673-B8E8-FD59B316C3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9838" y="409353"/>
            <a:ext cx="2338467" cy="2338467"/>
          </a:xfrm>
          <a:prstGeom prst="rect">
            <a:avLst/>
          </a:prstGeom>
        </p:spPr>
      </p:pic>
      <p:pic>
        <p:nvPicPr>
          <p:cNvPr id="11" name="Picture 10">
            <a:extLst>
              <a:ext uri="{FF2B5EF4-FFF2-40B4-BE49-F238E27FC236}">
                <a16:creationId xmlns:a16="http://schemas.microsoft.com/office/drawing/2014/main" id="{BE953699-9E65-470C-9C4E-D6164E629B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20288" y="2215374"/>
            <a:ext cx="1539550" cy="1876566"/>
          </a:xfrm>
          <a:prstGeom prst="rect">
            <a:avLst/>
          </a:prstGeom>
        </p:spPr>
      </p:pic>
      <p:pic>
        <p:nvPicPr>
          <p:cNvPr id="13" name="Picture 12">
            <a:extLst>
              <a:ext uri="{FF2B5EF4-FFF2-40B4-BE49-F238E27FC236}">
                <a16:creationId xmlns:a16="http://schemas.microsoft.com/office/drawing/2014/main" id="{19558803-865D-4222-887B-513CF8D8BD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53533" y="4295634"/>
            <a:ext cx="2338467" cy="1484564"/>
          </a:xfrm>
          <a:prstGeom prst="rect">
            <a:avLst/>
          </a:prstGeom>
        </p:spPr>
      </p:pic>
      <p:pic>
        <p:nvPicPr>
          <p:cNvPr id="3074" name="Picture 2" descr="Calculation linear icon. Complex math calculations. Robot holding calculator.  Robotic process automation. Thin line illustration. Contour symbol. Vect  Stock Vector Image &amp;amp;amp; Art - Alamy">
            <a:extLst>
              <a:ext uri="{FF2B5EF4-FFF2-40B4-BE49-F238E27FC236}">
                <a16:creationId xmlns:a16="http://schemas.microsoft.com/office/drawing/2014/main" id="{E7A99C93-B6F7-45A1-8337-9B1AC089A8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20288" y="5196691"/>
            <a:ext cx="1777088" cy="2131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2798866"/>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4FC7B-E23C-4A42-A775-5620E690586E}"/>
              </a:ext>
            </a:extLst>
          </p:cNvPr>
          <p:cNvSpPr>
            <a:spLocks noGrp="1"/>
          </p:cNvSpPr>
          <p:nvPr>
            <p:ph type="title"/>
          </p:nvPr>
        </p:nvSpPr>
        <p:spPr/>
        <p:txBody>
          <a:bodyPr/>
          <a:lstStyle/>
          <a:p>
            <a:r>
              <a:rPr lang="en-US" i="0" dirty="0"/>
              <a:t>Output Screenshot</a:t>
            </a:r>
            <a:endParaRPr lang="en-IN" i="0" dirty="0"/>
          </a:p>
        </p:txBody>
      </p:sp>
      <p:sp>
        <p:nvSpPr>
          <p:cNvPr id="3" name="Content Placeholder 2">
            <a:extLst>
              <a:ext uri="{FF2B5EF4-FFF2-40B4-BE49-F238E27FC236}">
                <a16:creationId xmlns:a16="http://schemas.microsoft.com/office/drawing/2014/main" id="{8EF59F44-FA4F-44FB-85B1-FE0E7325B9C3}"/>
              </a:ext>
            </a:extLst>
          </p:cNvPr>
          <p:cNvSpPr>
            <a:spLocks noGrp="1"/>
          </p:cNvSpPr>
          <p:nvPr>
            <p:ph idx="1"/>
          </p:nvPr>
        </p:nvSpPr>
        <p:spPr/>
        <p:txBody>
          <a:bodyPr/>
          <a:lstStyle/>
          <a:p>
            <a:pPr marL="0" indent="0">
              <a:buNone/>
            </a:pPr>
            <a:r>
              <a:rPr lang="en-US" b="1" dirty="0"/>
              <a:t>Homepage:</a:t>
            </a:r>
            <a:endParaRPr lang="en-IN" b="1" dirty="0"/>
          </a:p>
        </p:txBody>
      </p:sp>
      <p:pic>
        <p:nvPicPr>
          <p:cNvPr id="5" name="Picture 4">
            <a:extLst>
              <a:ext uri="{FF2B5EF4-FFF2-40B4-BE49-F238E27FC236}">
                <a16:creationId xmlns:a16="http://schemas.microsoft.com/office/drawing/2014/main" id="{AF5E2F5E-F394-4ED6-A96B-D63BCE96C4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7763" y="1676769"/>
            <a:ext cx="8817429" cy="4929304"/>
          </a:xfrm>
          <a:prstGeom prst="rect">
            <a:avLst/>
          </a:prstGeom>
        </p:spPr>
      </p:pic>
    </p:spTree>
    <p:extLst>
      <p:ext uri="{BB962C8B-B14F-4D97-AF65-F5344CB8AC3E}">
        <p14:creationId xmlns:p14="http://schemas.microsoft.com/office/powerpoint/2010/main" val="1313526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22FD3-D3DC-4CF5-A3E7-0B802D99AF87}"/>
              </a:ext>
            </a:extLst>
          </p:cNvPr>
          <p:cNvSpPr>
            <a:spLocks noGrp="1"/>
          </p:cNvSpPr>
          <p:nvPr>
            <p:ph type="title"/>
          </p:nvPr>
        </p:nvSpPr>
        <p:spPr/>
        <p:txBody>
          <a:bodyPr/>
          <a:lstStyle/>
          <a:p>
            <a:r>
              <a:rPr lang="en-US" i="0" dirty="0"/>
              <a:t>Admin login</a:t>
            </a:r>
            <a:endParaRPr lang="en-IN" i="0" dirty="0"/>
          </a:p>
        </p:txBody>
      </p:sp>
      <p:pic>
        <p:nvPicPr>
          <p:cNvPr id="5" name="Content Placeholder 4">
            <a:extLst>
              <a:ext uri="{FF2B5EF4-FFF2-40B4-BE49-F238E27FC236}">
                <a16:creationId xmlns:a16="http://schemas.microsoft.com/office/drawing/2014/main" id="{C9C47CB8-55EA-40FB-927C-96A014D9A3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61053" y="1523530"/>
            <a:ext cx="10123713" cy="5091873"/>
          </a:xfrm>
        </p:spPr>
      </p:pic>
    </p:spTree>
    <p:extLst>
      <p:ext uri="{BB962C8B-B14F-4D97-AF65-F5344CB8AC3E}">
        <p14:creationId xmlns:p14="http://schemas.microsoft.com/office/powerpoint/2010/main" val="2222462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22F12-A2A5-4513-B2D4-8156029E040E}"/>
              </a:ext>
            </a:extLst>
          </p:cNvPr>
          <p:cNvSpPr>
            <a:spLocks noGrp="1"/>
          </p:cNvSpPr>
          <p:nvPr>
            <p:ph type="title"/>
          </p:nvPr>
        </p:nvSpPr>
        <p:spPr/>
        <p:txBody>
          <a:bodyPr/>
          <a:lstStyle/>
          <a:p>
            <a:r>
              <a:rPr lang="en-US" i="0" dirty="0"/>
              <a:t>Employee list</a:t>
            </a:r>
            <a:endParaRPr lang="en-IN" i="0" dirty="0"/>
          </a:p>
        </p:txBody>
      </p:sp>
      <p:pic>
        <p:nvPicPr>
          <p:cNvPr id="5" name="Content Placeholder 4">
            <a:extLst>
              <a:ext uri="{FF2B5EF4-FFF2-40B4-BE49-F238E27FC236}">
                <a16:creationId xmlns:a16="http://schemas.microsoft.com/office/drawing/2014/main" id="{6E397CED-B50D-40D3-8904-6BA3A6B930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48883"/>
            <a:ext cx="10321212" cy="4943992"/>
          </a:xfrm>
        </p:spPr>
      </p:pic>
    </p:spTree>
    <p:extLst>
      <p:ext uri="{BB962C8B-B14F-4D97-AF65-F5344CB8AC3E}">
        <p14:creationId xmlns:p14="http://schemas.microsoft.com/office/powerpoint/2010/main" val="2703563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7B380-4E25-4F1B-8904-E2FC7716C136}"/>
              </a:ext>
            </a:extLst>
          </p:cNvPr>
          <p:cNvSpPr>
            <a:spLocks noGrp="1"/>
          </p:cNvSpPr>
          <p:nvPr>
            <p:ph type="title"/>
          </p:nvPr>
        </p:nvSpPr>
        <p:spPr/>
        <p:txBody>
          <a:bodyPr/>
          <a:lstStyle/>
          <a:p>
            <a:r>
              <a:rPr lang="en-US" i="0" dirty="0"/>
              <a:t>List of employee attendance</a:t>
            </a:r>
            <a:endParaRPr lang="en-IN" i="0" dirty="0"/>
          </a:p>
        </p:txBody>
      </p:sp>
      <p:pic>
        <p:nvPicPr>
          <p:cNvPr id="9" name="Content Placeholder 8">
            <a:extLst>
              <a:ext uri="{FF2B5EF4-FFF2-40B4-BE49-F238E27FC236}">
                <a16:creationId xmlns:a16="http://schemas.microsoft.com/office/drawing/2014/main" id="{94490DFD-BDE1-4271-94C2-F5B2B66A63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1641" y="1355581"/>
            <a:ext cx="9750489" cy="5484650"/>
          </a:xfrm>
        </p:spPr>
      </p:pic>
    </p:spTree>
    <p:extLst>
      <p:ext uri="{BB962C8B-B14F-4D97-AF65-F5344CB8AC3E}">
        <p14:creationId xmlns:p14="http://schemas.microsoft.com/office/powerpoint/2010/main" val="414885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50BA1-E2EF-4366-B9F1-E2ACEA2B6C4F}"/>
              </a:ext>
            </a:extLst>
          </p:cNvPr>
          <p:cNvSpPr>
            <a:spLocks noGrp="1"/>
          </p:cNvSpPr>
          <p:nvPr>
            <p:ph type="title"/>
          </p:nvPr>
        </p:nvSpPr>
        <p:spPr/>
        <p:txBody>
          <a:bodyPr/>
          <a:lstStyle/>
          <a:p>
            <a:r>
              <a:rPr lang="en-US" i="0" dirty="0"/>
              <a:t>Employee profile &amp; Pay slip</a:t>
            </a:r>
            <a:endParaRPr lang="en-IN" i="0" dirty="0"/>
          </a:p>
        </p:txBody>
      </p:sp>
      <p:pic>
        <p:nvPicPr>
          <p:cNvPr id="5" name="Content Placeholder 4">
            <a:extLst>
              <a:ext uri="{FF2B5EF4-FFF2-40B4-BE49-F238E27FC236}">
                <a16:creationId xmlns:a16="http://schemas.microsoft.com/office/drawing/2014/main" id="{CA8401D8-FDF7-4347-9B09-AF072D2973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4947" y="1604865"/>
            <a:ext cx="9237305" cy="4954555"/>
          </a:xfrm>
        </p:spPr>
      </p:pic>
    </p:spTree>
    <p:extLst>
      <p:ext uri="{BB962C8B-B14F-4D97-AF65-F5344CB8AC3E}">
        <p14:creationId xmlns:p14="http://schemas.microsoft.com/office/powerpoint/2010/main" val="3079639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3DE07-8C12-4E23-819C-0D991496BA1D}"/>
              </a:ext>
            </a:extLst>
          </p:cNvPr>
          <p:cNvSpPr>
            <a:spLocks noGrp="1"/>
          </p:cNvSpPr>
          <p:nvPr>
            <p:ph type="title"/>
          </p:nvPr>
        </p:nvSpPr>
        <p:spPr/>
        <p:txBody>
          <a:bodyPr/>
          <a:lstStyle/>
          <a:p>
            <a:r>
              <a:rPr lang="en-US" i="0" dirty="0"/>
              <a:t>Timesheet List</a:t>
            </a:r>
            <a:endParaRPr lang="en-IN" i="0" dirty="0"/>
          </a:p>
        </p:txBody>
      </p:sp>
      <p:pic>
        <p:nvPicPr>
          <p:cNvPr id="5" name="Content Placeholder 4">
            <a:extLst>
              <a:ext uri="{FF2B5EF4-FFF2-40B4-BE49-F238E27FC236}">
                <a16:creationId xmlns:a16="http://schemas.microsoft.com/office/drawing/2014/main" id="{2980A261-EF73-4194-94F2-6C063A423B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6327" y="1548882"/>
            <a:ext cx="9638521" cy="5029199"/>
          </a:xfrm>
        </p:spPr>
      </p:pic>
    </p:spTree>
    <p:extLst>
      <p:ext uri="{BB962C8B-B14F-4D97-AF65-F5344CB8AC3E}">
        <p14:creationId xmlns:p14="http://schemas.microsoft.com/office/powerpoint/2010/main" val="9992706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227A0-5377-49D8-8985-D79CBDD8AF2B}"/>
              </a:ext>
            </a:extLst>
          </p:cNvPr>
          <p:cNvSpPr>
            <a:spLocks noGrp="1"/>
          </p:cNvSpPr>
          <p:nvPr>
            <p:ph type="title"/>
          </p:nvPr>
        </p:nvSpPr>
        <p:spPr/>
        <p:txBody>
          <a:bodyPr/>
          <a:lstStyle/>
          <a:p>
            <a:r>
              <a:rPr lang="en-US" i="0" dirty="0"/>
              <a:t>Leave list</a:t>
            </a:r>
            <a:endParaRPr lang="en-IN" i="0" dirty="0"/>
          </a:p>
        </p:txBody>
      </p:sp>
      <p:pic>
        <p:nvPicPr>
          <p:cNvPr id="5" name="Content Placeholder 4">
            <a:extLst>
              <a:ext uri="{FF2B5EF4-FFF2-40B4-BE49-F238E27FC236}">
                <a16:creationId xmlns:a16="http://schemas.microsoft.com/office/drawing/2014/main" id="{843D6078-EDE6-4D74-BC70-4E3A0AEEBB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0" y="1520890"/>
            <a:ext cx="9181322" cy="5122505"/>
          </a:xfrm>
        </p:spPr>
      </p:pic>
    </p:spTree>
    <p:extLst>
      <p:ext uri="{BB962C8B-B14F-4D97-AF65-F5344CB8AC3E}">
        <p14:creationId xmlns:p14="http://schemas.microsoft.com/office/powerpoint/2010/main" val="3459321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73D17-D8F3-4DA8-867A-A794BE240FF7}"/>
              </a:ext>
            </a:extLst>
          </p:cNvPr>
          <p:cNvSpPr>
            <a:spLocks noGrp="1"/>
          </p:cNvSpPr>
          <p:nvPr>
            <p:ph type="title"/>
          </p:nvPr>
        </p:nvSpPr>
        <p:spPr/>
        <p:txBody>
          <a:bodyPr/>
          <a:lstStyle/>
          <a:p>
            <a:pPr algn="ctr"/>
            <a:r>
              <a:rPr lang="en-IN" i="0" dirty="0">
                <a:latin typeface="Arial Black" panose="020B0A04020102020204" pitchFamily="34" charset="0"/>
              </a:rPr>
              <a:t>Future scope and improvements</a:t>
            </a:r>
          </a:p>
        </p:txBody>
      </p:sp>
      <p:sp>
        <p:nvSpPr>
          <p:cNvPr id="3" name="Content Placeholder 2">
            <a:extLst>
              <a:ext uri="{FF2B5EF4-FFF2-40B4-BE49-F238E27FC236}">
                <a16:creationId xmlns:a16="http://schemas.microsoft.com/office/drawing/2014/main" id="{05BF889D-738D-427A-B934-FA1F832E978E}"/>
              </a:ext>
            </a:extLst>
          </p:cNvPr>
          <p:cNvSpPr>
            <a:spLocks noGrp="1"/>
          </p:cNvSpPr>
          <p:nvPr>
            <p:ph idx="1"/>
          </p:nvPr>
        </p:nvSpPr>
        <p:spPr/>
        <p:txBody>
          <a:bodyPr>
            <a:normAutofit/>
          </a:bodyPr>
          <a:lstStyle/>
          <a:p>
            <a:pPr marL="0" indent="0">
              <a:buNone/>
            </a:pPr>
            <a:r>
              <a:rPr lang="en-US" sz="1800" dirty="0"/>
              <a:t>	This Application works in Multiple PC’s installed on multiple Computers but sharing</a:t>
            </a:r>
          </a:p>
          <a:p>
            <a:pPr marL="0" indent="0">
              <a:buNone/>
            </a:pPr>
            <a:r>
              <a:rPr lang="en-US" sz="1800" dirty="0"/>
              <a:t>Same database by which users of different department can use it sitting at different locations </a:t>
            </a:r>
          </a:p>
          <a:p>
            <a:pPr marL="0" indent="0">
              <a:buNone/>
            </a:pPr>
            <a:r>
              <a:rPr lang="en-US" sz="1800" dirty="0"/>
              <a:t>simultaneously.</a:t>
            </a:r>
          </a:p>
          <a:p>
            <a:pPr marL="0" indent="0">
              <a:buNone/>
            </a:pPr>
            <a:r>
              <a:rPr lang="en-US" sz="1800" dirty="0"/>
              <a:t>	 But in future we can make the Application where the database will be </a:t>
            </a:r>
          </a:p>
          <a:p>
            <a:pPr marL="0" indent="0">
              <a:buNone/>
            </a:pPr>
            <a:r>
              <a:rPr lang="en-US" sz="1800" dirty="0"/>
              <a:t>hosted in order to manage the all departments which will be located in different places and </a:t>
            </a:r>
          </a:p>
          <a:p>
            <a:pPr marL="0" indent="0">
              <a:buNone/>
            </a:pPr>
            <a:r>
              <a:rPr lang="en-US" sz="1800" dirty="0"/>
              <a:t>by keeping domain of  Application as Online.</a:t>
            </a:r>
          </a:p>
          <a:p>
            <a:pPr marL="0" indent="0">
              <a:buNone/>
            </a:pPr>
            <a:r>
              <a:rPr lang="en-US" sz="1800" dirty="0"/>
              <a:t>	The system can be developed in such a way that its existing features can be modified to better versions.  </a:t>
            </a:r>
            <a:endParaRPr lang="en-IN" sz="1800" dirty="0"/>
          </a:p>
        </p:txBody>
      </p:sp>
    </p:spTree>
    <p:extLst>
      <p:ext uri="{BB962C8B-B14F-4D97-AF65-F5344CB8AC3E}">
        <p14:creationId xmlns:p14="http://schemas.microsoft.com/office/powerpoint/2010/main" val="255121598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45B7-2EE1-4D80-A06E-46D9ED53CA9C}"/>
              </a:ext>
            </a:extLst>
          </p:cNvPr>
          <p:cNvSpPr>
            <a:spLocks noGrp="1"/>
          </p:cNvSpPr>
          <p:nvPr>
            <p:ph type="title"/>
          </p:nvPr>
        </p:nvSpPr>
        <p:spPr/>
        <p:txBody>
          <a:bodyPr/>
          <a:lstStyle/>
          <a:p>
            <a:r>
              <a:rPr lang="en-IN" i="0" dirty="0">
                <a:latin typeface="Arial Black" panose="020B0A04020102020204" pitchFamily="34" charset="0"/>
              </a:rPr>
              <a:t>Conclusion</a:t>
            </a:r>
          </a:p>
        </p:txBody>
      </p:sp>
      <p:sp>
        <p:nvSpPr>
          <p:cNvPr id="3" name="Content Placeholder 2">
            <a:extLst>
              <a:ext uri="{FF2B5EF4-FFF2-40B4-BE49-F238E27FC236}">
                <a16:creationId xmlns:a16="http://schemas.microsoft.com/office/drawing/2014/main" id="{80AAE984-8CB0-4097-98A6-4AFF3DE90379}"/>
              </a:ext>
            </a:extLst>
          </p:cNvPr>
          <p:cNvSpPr>
            <a:spLocks noGrp="1"/>
          </p:cNvSpPr>
          <p:nvPr>
            <p:ph idx="1"/>
          </p:nvPr>
        </p:nvSpPr>
        <p:spPr>
          <a:xfrm>
            <a:off x="838200" y="1435395"/>
            <a:ext cx="10515600" cy="4736805"/>
          </a:xfrm>
        </p:spPr>
        <p:txBody>
          <a:bodyPr>
            <a:normAutofit/>
          </a:bodyPr>
          <a:lstStyle/>
          <a:p>
            <a:pPr marL="0" indent="0">
              <a:buNone/>
            </a:pPr>
            <a:r>
              <a:rPr lang="en-IN" sz="1800" dirty="0"/>
              <a:t>This project is built keeping in mind that it is to use by admin and the employees in an organization .</a:t>
            </a:r>
            <a:r>
              <a:rPr lang="en-US" sz="1200" dirty="0"/>
              <a:t> </a:t>
            </a:r>
            <a:r>
              <a:rPr lang="en-US" sz="1800" dirty="0"/>
              <a:t>It is built for use in small scale organization where the number of employees is limited. According to the requested requirement the admin can add, manipulate, update and delete all employee data in his organization. The admin can add new Employee and delete them. The Admin can also add predefined pay grades for the employees. The required records can be easily viewed by the admin anytime time he wants in an instant. The payment of the employee is based on monthly basis. Numerous validations implemented would enable the admin to enter accurate data. The main objective of this framework is to save time, make the system cost effective and management records efficiently.</a:t>
            </a:r>
            <a:endParaRPr lang="en-IN" sz="1800" dirty="0"/>
          </a:p>
        </p:txBody>
      </p:sp>
      <p:pic>
        <p:nvPicPr>
          <p:cNvPr id="4" name="Picture 3">
            <a:extLst>
              <a:ext uri="{FF2B5EF4-FFF2-40B4-BE49-F238E27FC236}">
                <a16:creationId xmlns:a16="http://schemas.microsoft.com/office/drawing/2014/main" id="{B0EC6501-5096-4FBB-BCF6-286A9CB611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5542" y="4568582"/>
            <a:ext cx="3140235" cy="1708046"/>
          </a:xfrm>
          <a:prstGeom prst="rect">
            <a:avLst/>
          </a:prstGeom>
        </p:spPr>
      </p:pic>
      <p:pic>
        <p:nvPicPr>
          <p:cNvPr id="5" name="Picture 4">
            <a:extLst>
              <a:ext uri="{FF2B5EF4-FFF2-40B4-BE49-F238E27FC236}">
                <a16:creationId xmlns:a16="http://schemas.microsoft.com/office/drawing/2014/main" id="{499F417B-CE26-4A15-AC54-3940E63FA3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10" y="3900337"/>
            <a:ext cx="4566804" cy="3044536"/>
          </a:xfrm>
          <a:prstGeom prst="rect">
            <a:avLst/>
          </a:prstGeom>
        </p:spPr>
      </p:pic>
    </p:spTree>
    <p:extLst>
      <p:ext uri="{BB962C8B-B14F-4D97-AF65-F5344CB8AC3E}">
        <p14:creationId xmlns:p14="http://schemas.microsoft.com/office/powerpoint/2010/main" val="113248477"/>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EF578D-1D13-4CD0-982D-5064113DF07C}"/>
              </a:ext>
            </a:extLst>
          </p:cNvPr>
          <p:cNvSpPr txBox="1"/>
          <p:nvPr/>
        </p:nvSpPr>
        <p:spPr>
          <a:xfrm>
            <a:off x="4003829" y="2290439"/>
            <a:ext cx="45719" cy="369332"/>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C1359A34-FB1C-4DE8-BF40-834DAFDED4C9}"/>
              </a:ext>
            </a:extLst>
          </p:cNvPr>
          <p:cNvSpPr txBox="1"/>
          <p:nvPr/>
        </p:nvSpPr>
        <p:spPr>
          <a:xfrm flipH="1">
            <a:off x="1932373" y="2019581"/>
            <a:ext cx="8327254" cy="2215991"/>
          </a:xfrm>
          <a:prstGeom prst="rect">
            <a:avLst/>
          </a:prstGeom>
          <a:noFill/>
        </p:spPr>
        <p:txBody>
          <a:bodyPr wrap="square" rtlCol="0">
            <a:spAutoFit/>
          </a:bodyPr>
          <a:lstStyle/>
          <a:p>
            <a:pPr algn="ctr"/>
            <a:r>
              <a:rPr lang="en-US" sz="13800" b="1" dirty="0">
                <a:solidFill>
                  <a:schemeClr val="tx1">
                    <a:lumMod val="95000"/>
                    <a:lumOff val="5000"/>
                  </a:schemeClr>
                </a:solidFill>
                <a:latin typeface="Curlz MT" panose="04040404050702020202" pitchFamily="82" charset="0"/>
              </a:rPr>
              <a:t>Thank you</a:t>
            </a:r>
            <a:endParaRPr lang="en-IN" sz="13800" b="1" dirty="0">
              <a:solidFill>
                <a:schemeClr val="tx1">
                  <a:lumMod val="95000"/>
                  <a:lumOff val="5000"/>
                </a:schemeClr>
              </a:solidFill>
              <a:latin typeface="Curlz MT" panose="04040404050702020202" pitchFamily="82" charset="0"/>
            </a:endParaRPr>
          </a:p>
        </p:txBody>
      </p:sp>
    </p:spTree>
    <p:extLst>
      <p:ext uri="{BB962C8B-B14F-4D97-AF65-F5344CB8AC3E}">
        <p14:creationId xmlns:p14="http://schemas.microsoft.com/office/powerpoint/2010/main" val="2852549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emplate>Brush</Template>
  <TotalTime>751</TotalTime>
  <Words>562</Words>
  <Application>Microsoft Office PowerPoint</Application>
  <PresentationFormat>Widescreen</PresentationFormat>
  <Paragraphs>86</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Arial Black</vt:lpstr>
      <vt:lpstr>Century Gothic</vt:lpstr>
      <vt:lpstr>Curlz MT</vt:lpstr>
      <vt:lpstr>Elephant</vt:lpstr>
      <vt:lpstr>Wingdings</vt:lpstr>
      <vt:lpstr>BrushVTI</vt:lpstr>
      <vt:lpstr>Employee Payroll Management</vt:lpstr>
      <vt:lpstr>Bibliography</vt:lpstr>
      <vt:lpstr>Contents</vt:lpstr>
      <vt:lpstr>Objective</vt:lpstr>
      <vt:lpstr>Tools &amp; Languages used</vt:lpstr>
      <vt:lpstr>System Requirements</vt:lpstr>
      <vt:lpstr>App Flow</vt:lpstr>
      <vt:lpstr>E-R Diagram</vt:lpstr>
      <vt:lpstr>Features of Employee payroll management</vt:lpstr>
      <vt:lpstr>Output Screenshot</vt:lpstr>
      <vt:lpstr>Admin login</vt:lpstr>
      <vt:lpstr>Employee list</vt:lpstr>
      <vt:lpstr>List of employee attendance</vt:lpstr>
      <vt:lpstr>Employee profile &amp; Pay slip</vt:lpstr>
      <vt:lpstr>Timesheet List</vt:lpstr>
      <vt:lpstr>Leave list</vt:lpstr>
      <vt:lpstr>Future scope and improvements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Payroll Management</dc:title>
  <dc:creator>18751A0490</dc:creator>
  <cp:lastModifiedBy>18751A0490</cp:lastModifiedBy>
  <cp:revision>11</cp:revision>
  <dcterms:created xsi:type="dcterms:W3CDTF">2022-03-05T03:56:38Z</dcterms:created>
  <dcterms:modified xsi:type="dcterms:W3CDTF">2022-03-08T02:09:52Z</dcterms:modified>
</cp:coreProperties>
</file>